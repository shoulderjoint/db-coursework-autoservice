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7" r:id="rId4"/>
    <p:sldId id="276" r:id="rId5"/>
    <p:sldId id="286" r:id="rId6"/>
    <p:sldId id="277" r:id="rId7"/>
    <p:sldId id="278" r:id="rId8"/>
    <p:sldId id="288" r:id="rId9"/>
    <p:sldId id="289" r:id="rId10"/>
    <p:sldId id="280" r:id="rId11"/>
    <p:sldId id="282" r:id="rId12"/>
    <p:sldId id="27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ru-RU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D84B38CD-0885-4696-9629-D452F163E879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sz="2000" b="0" strike="noStrike" spc="-1">
              <a:latin typeface="Arial"/>
            </a:endParaRPr>
          </a:p>
        </p:txBody>
      </p:sp>
      <p:sp>
        <p:nvSpPr>
          <p:cNvPr id="133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130B3E93-A261-4648-9214-2FF100CAE945}" type="slidenum">
              <a:rPr lang="ru-RU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ru-RU" sz="2000" b="0" strike="noStrike" spc="-1" dirty="0">
              <a:latin typeface="Arial"/>
            </a:endParaRPr>
          </a:p>
        </p:txBody>
      </p:sp>
      <p:sp>
        <p:nvSpPr>
          <p:cNvPr id="133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130B3E93-A261-4648-9214-2FF100CAE945}" type="slidenum">
              <a:rPr lang="ru-RU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ru-R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4114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069C56A8-736F-4026-AB81-39B7F425AD5C}" type="datetime1">
              <a:rPr lang="ru-RU" sz="1200" b="0" strike="noStrike" spc="-1">
                <a:solidFill>
                  <a:srgbClr val="8B8B8B"/>
                </a:solidFill>
                <a:latin typeface="Calibri"/>
              </a:rPr>
              <a:t>01.06.2026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A89469F-CC63-4F3B-8250-2152A63D7E3E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4"/>
          <p:cNvPicPr/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48" name="CustomShape 1"/>
          <p:cNvSpPr/>
          <p:nvPr/>
        </p:nvSpPr>
        <p:spPr>
          <a:xfrm>
            <a:off x="6912535" y="3271887"/>
            <a:ext cx="3644640" cy="11988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Курсовая работа</a:t>
            </a:r>
          </a:p>
          <a:p>
            <a:pPr algn="ctr">
              <a:lnSpc>
                <a:spcPct val="100000"/>
              </a:lnSpc>
            </a:pPr>
            <a:r>
              <a:rPr lang="ru-RU" sz="1800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Проектирование и реализация информационной системы “Авторемонтная мастерская”</a:t>
            </a:r>
          </a:p>
        </p:txBody>
      </p:sp>
      <p:sp>
        <p:nvSpPr>
          <p:cNvPr id="49" name="CustomShape 2"/>
          <p:cNvSpPr/>
          <p:nvPr/>
        </p:nvSpPr>
        <p:spPr>
          <a:xfrm>
            <a:off x="6459840" y="4899294"/>
            <a:ext cx="4808160" cy="12296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r>
              <a:rPr lang="ru-RU" sz="1400" b="0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Выполнил: студент курса 3 группы 4345-020303D</a:t>
            </a:r>
            <a:br>
              <a:rPr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400" b="0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Кондратьев М.А</a:t>
            </a:r>
            <a:br>
              <a:rPr lang="ru-RU" sz="1400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400" b="0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Научный руководитель: к.ф.-м.н., доцент</a:t>
            </a:r>
            <a:br>
              <a:rPr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400" b="0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Е.В. Рогачева</a:t>
            </a:r>
            <a:endParaRPr lang="ru-RU" sz="14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CustomShape 3"/>
          <p:cNvSpPr/>
          <p:nvPr/>
        </p:nvSpPr>
        <p:spPr>
          <a:xfrm>
            <a:off x="6599520" y="6469200"/>
            <a:ext cx="3845880" cy="30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Самара, 202</a:t>
            </a:r>
            <a:r>
              <a:rPr lang="en-US" sz="1400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ru-RU" sz="14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D0BADF-01AA-4E94-915D-4EF38A4A4561}"/>
              </a:ext>
            </a:extLst>
          </p:cNvPr>
          <p:cNvSpPr txBox="1"/>
          <p:nvPr/>
        </p:nvSpPr>
        <p:spPr>
          <a:xfrm>
            <a:off x="4430599" y="1456005"/>
            <a:ext cx="65610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Естественнонаучный институт </a:t>
            </a:r>
          </a:p>
          <a:p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Механико-математический факультет </a:t>
            </a:r>
          </a:p>
          <a:p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Кафедра информатики и вычислительной математики </a:t>
            </a:r>
          </a:p>
          <a:p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Направление подготовки</a:t>
            </a:r>
          </a:p>
          <a:p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02.03.03 Математическое обеспечение и администрирование информационных</a:t>
            </a:r>
          </a:p>
          <a:p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систем </a:t>
            </a:r>
          </a:p>
          <a:p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Направленность (профиль) «Разработка и администрирование информационных </a:t>
            </a:r>
          </a:p>
          <a:p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систем»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628985" y="989814"/>
            <a:ext cx="11126240" cy="29564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50000"/>
              </a:lnSpc>
            </a:pPr>
            <a:r>
              <a:rPr lang="ru-RU" spc="-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Рост объема обращений в автосервисы приводит к увеличению нагрузки на персонал, усложнению различных процессов, например таких как учёт заказов и клиентов, а привычные методы организации деятельности теряют свою эффективность.</a:t>
            </a:r>
          </a:p>
          <a:p>
            <a:pPr>
              <a:lnSpc>
                <a:spcPct val="150000"/>
              </a:lnSpc>
            </a:pPr>
            <a:endParaRPr lang="ru-RU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pc="-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следствие данных условий, внедрение информационной системы авторемонтной мастерской имеет особую актуальность, за счет своих функций, обеспечивающих автоматизацию процессов приёма и обработки заказов, ведение клиентской базы, а также учет выполненных работ и используемых материалов.</a:t>
            </a:r>
            <a:endParaRPr lang="ru-RU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CustomShape 2"/>
          <p:cNvSpPr/>
          <p:nvPr/>
        </p:nvSpPr>
        <p:spPr>
          <a:xfrm>
            <a:off x="2146800" y="301578"/>
            <a:ext cx="789840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800" b="1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Актуальность </a:t>
            </a:r>
            <a:endParaRPr lang="ru-RU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CustomShape 3"/>
          <p:cNvSpPr/>
          <p:nvPr/>
        </p:nvSpPr>
        <p:spPr>
          <a:xfrm>
            <a:off x="11105640" y="634104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283B2C4B-68A0-420A-9458-7EA81EC25ADC}" type="slidenum">
              <a:rPr lang="ru-RU" sz="1800" b="0" strike="noStrike" spc="-1">
                <a:solidFill>
                  <a:srgbClr val="FFFFFF"/>
                </a:solidFill>
                <a:latin typeface="Elektra Medium Pro"/>
              </a:rPr>
              <a:t>2</a:t>
            </a:fld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628985" y="862073"/>
            <a:ext cx="11154520" cy="12948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spc="-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Разработка информационной системы для авторемонтной мастерской, которая позволяет записывать клиентов на ремонт, принимать автомобили на ремонт, формировать заказ-наряды клиентам.</a:t>
            </a:r>
          </a:p>
        </p:txBody>
      </p:sp>
      <p:sp>
        <p:nvSpPr>
          <p:cNvPr id="52" name="CustomShape 2"/>
          <p:cNvSpPr/>
          <p:nvPr/>
        </p:nvSpPr>
        <p:spPr>
          <a:xfrm>
            <a:off x="2146800" y="302997"/>
            <a:ext cx="789840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800" b="1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и задачи курсовой работы</a:t>
            </a:r>
            <a:endParaRPr lang="ru-RU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CustomShape 3"/>
          <p:cNvSpPr/>
          <p:nvPr/>
        </p:nvSpPr>
        <p:spPr>
          <a:xfrm>
            <a:off x="11105640" y="634104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283B2C4B-68A0-420A-9458-7EA81EC25ADC}" type="slidenum">
              <a:rPr lang="ru-RU" sz="1800" b="0" strike="noStrike" spc="-1">
                <a:solidFill>
                  <a:srgbClr val="FFFFFF"/>
                </a:solidFill>
                <a:latin typeface="Elektra Medium Pro"/>
              </a:rPr>
              <a:t>3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5" name="CustomShape 1"/>
          <p:cNvSpPr/>
          <p:nvPr/>
        </p:nvSpPr>
        <p:spPr>
          <a:xfrm>
            <a:off x="628985" y="2178140"/>
            <a:ext cx="11501882" cy="39688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200000"/>
              </a:lnSpc>
            </a:pPr>
            <a:r>
              <a:rPr lang="ru-RU" b="1" spc="-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провести анализ предметной области;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изучить существующие системы-аналоги;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сформулировать функциональные и нефункциональные требования к системе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построить информационную модель данных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построить логическую модель данных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выбрать СУБД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построить физическую модель данных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спроектировать веб-приложение для работы с созданной базой 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выбрать средства реализации;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реализовать приложение;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провести модульное, интеграционное, нагрузочное тестирование;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проверить работоспособность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42986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2146800" y="293804"/>
            <a:ext cx="789840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800" b="1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Обзор аналогов</a:t>
            </a:r>
            <a:endParaRPr lang="ru-RU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11109960" y="632448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89F79450-C151-457E-9813-B313ED05920E}" type="slidenum">
              <a:rPr lang="ru-RU" sz="1800" b="0" strike="noStrike" spc="-1">
                <a:solidFill>
                  <a:srgbClr val="FFFFFF"/>
                </a:solidFill>
                <a:latin typeface="Elektra Medium Pro"/>
              </a:rPr>
              <a:t>4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56" name="CustomShape 3"/>
          <p:cNvSpPr/>
          <p:nvPr/>
        </p:nvSpPr>
        <p:spPr>
          <a:xfrm>
            <a:off x="660397" y="1025596"/>
            <a:ext cx="6984741" cy="3787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Информационная система авторемонтной мастерской «Навигатор» предоставляет пользователю возможность записи в авторемонтную мастерскую,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возможность просмотра каталога оказываемых услуг. Также есть возможность просмотра отзывов клиентов.</a:t>
            </a:r>
          </a:p>
          <a:p>
            <a:pPr>
              <a:lnSpc>
                <a:spcPct val="150000"/>
              </a:lnSpc>
            </a:pPr>
            <a:endParaRPr lang="ru-RU" dirty="0">
              <a:solidFill>
                <a:srgbClr val="000000"/>
              </a:solidFill>
              <a:latin typeface="Calibri" panose="020F0502020204030204" pitchFamily="34" charset="0"/>
              <a:ea typeface="DejaVu Sans" panose="020B060303080402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Минусом данной информационной системы является отсутствие личного кабинета, следовательно отсутствие возможности самостоятельного просмотра статуса обслуживаемых автомобилей без обращения к администратору.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D74B97-AC0B-4AB3-AEFA-5AC103E94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119" y="931328"/>
            <a:ext cx="42005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167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2110288" y="285840"/>
            <a:ext cx="789840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800" b="1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Обзор аналогов</a:t>
            </a:r>
            <a:endParaRPr lang="ru-RU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11109960" y="632448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70B94368-CDBA-4974-8450-BDAC626738DB}" type="slidenum">
              <a:rPr lang="ru-RU" sz="1800" b="0" strike="noStrike" spc="-1">
                <a:solidFill>
                  <a:srgbClr val="FFFFFF"/>
                </a:solidFill>
                <a:latin typeface="Elektra Medium Pro"/>
              </a:rPr>
              <a:t>5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680409" y="1192083"/>
            <a:ext cx="6785618" cy="42029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50000"/>
              </a:lnSpc>
            </a:pPr>
            <a:r>
              <a:rPr lang="ru-RU" spc="-1" dirty="0">
                <a:latin typeface="Calibri" panose="020F0502020204030204" pitchFamily="34" charset="0"/>
                <a:cs typeface="Calibri" panose="020F0502020204030204" pitchFamily="34" charset="0"/>
              </a:rPr>
              <a:t>Информационная система авторемонтной мастерской «Автокрепеж»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предоставляет пользователю возможности возможность подробно изучить оказываемые данной авторемонтной мастерской услуги, узнать информацию о компании, заказать обратный звонок, а также записаться на обслуживание с помощью онлайн-записи. </a:t>
            </a:r>
          </a:p>
          <a:p>
            <a:pPr>
              <a:lnSpc>
                <a:spcPct val="150000"/>
              </a:lnSpc>
            </a:pPr>
            <a:endParaRPr lang="ru-RU" spc="-1" dirty="0">
              <a:solidFill>
                <a:srgbClr val="000000"/>
              </a:solidFill>
              <a:latin typeface="Calibri" panose="020F0502020204030204" pitchFamily="34" charset="0"/>
              <a:ea typeface="DejaVu Sans" panose="020B060303080402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pc="-1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Минусом данной информационной системы является отсутствие указания марки и модели автомобиля, который будет обслуживаться, при создании онлайн-заявки.</a:t>
            </a:r>
            <a:endParaRPr lang="ru-RU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37331E-0738-4F9A-AAF3-79CC81BFB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027" y="2590572"/>
            <a:ext cx="4392083" cy="118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63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2146800" y="293804"/>
            <a:ext cx="789840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800" b="1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Функциональные требования</a:t>
            </a:r>
            <a:endParaRPr lang="ru-RU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11109960" y="632448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89F79450-C151-457E-9813-B313ED05920E}" type="slidenum">
              <a:rPr lang="ru-RU" sz="1800" b="0" strike="noStrike" spc="-1">
                <a:solidFill>
                  <a:srgbClr val="FFFFFF"/>
                </a:solidFill>
                <a:latin typeface="Elektra Medium Pro"/>
              </a:rPr>
              <a:t>6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56" name="CustomShape 3"/>
          <p:cNvSpPr/>
          <p:nvPr/>
        </p:nvSpPr>
        <p:spPr>
          <a:xfrm>
            <a:off x="553299" y="733366"/>
            <a:ext cx="11085401" cy="187453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Для разработки ИС были выявлены следующие функциональные требования: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1) Возможность оформления заявки в авторемонтную мастерскую по звонку и с помощью веб-приложения;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2) Хранение информации о каждой оказываемой услуге: стоимость, подробное описание услуги, примерное время выполнения услуги;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3) Создание, хранение и, если позволяет статус, редактирование заказ-нарядов;</a:t>
            </a:r>
            <a:endParaRPr lang="en-US" sz="18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DejaVu Sans" panose="020B060303080402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4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) Осуществление разграничения прав и возможностей в зависимости от уровня доступа: незарегистрированный и зарегистрированный пользователь, администратор, мастер-приёмщик, владелец/менеджер:</a:t>
            </a:r>
          </a:p>
          <a:p>
            <a:pPr>
              <a:lnSpc>
                <a:spcPct val="150000"/>
              </a:lnSpc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4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.1) Предоставление следующего функционала незарегистрированному пользователю:</a:t>
            </a:r>
          </a:p>
          <a:p>
            <a:pPr>
              <a:lnSpc>
                <a:spcPct val="150000"/>
              </a:lnSpc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4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.1.1) Просмотр информации об оказываемых услугах и контактах авторемонтных мастерских;</a:t>
            </a:r>
          </a:p>
          <a:p>
            <a:pPr>
              <a:lnSpc>
                <a:spcPct val="150000"/>
              </a:lnSpc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4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.1.2) Запись в авторемонтную мастерскую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по звонку или по заявке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;</a:t>
            </a:r>
            <a:endParaRPr lang="ru-RU" sz="18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DejaVu Sans" panose="020B060303080402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4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.2) Предоставление следующего функционала зарегистрированному пользователю: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4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.2.1) Просмотр информации об оказываемых услугах и контактах авторемонтных мастерских;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4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.2.2) Запись в авторемонтную мастерскую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по звонку или по заявке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;</a:t>
            </a:r>
            <a:endParaRPr lang="ru-RU" sz="18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DejaVu Sans" panose="020B060303080402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4.2.3) Возможность авторизации;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4.2.4) Доступ к личному кабинету и отслеживание в нём статусов обслуживаемых автомобилей, а также просмотр прошлых обращений 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5.3) Предоставление следующего функционала администратору: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5.3.1) Возможность авторизации;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5.3.2) Доступ к личному кабинету;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5.3.3) Создание и редактирование клиентов;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5.3.4) Выдача доступа к аккаунту клиенту;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5.3.5) Создание и редактирование автомобилей клиентов;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5.3.6) Создание и редактирование заявок;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5.4) Предоставление следующего функционала мастеру-приёмщику: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5.4.1) Возможность авторизации;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5.4.2) Доступ к личному кабинету;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5.4.3) Создание и редактирование заказ-нарядов;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5.4.4) Внесение новых поставщиков и редактирование старых;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5.4.5) Внесение новых договоров на закупку комплектующих, а также изменение  и удаление старых;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5.5) Предоставление следующего функционала владельцу/менеджеру: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5.5.1) Возможность авторизации;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5.5.2) Доступ к личному кабинету;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5.5.3) Просмотр заявок;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5.5.4) Просмотр заказ-нарядов;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5.5.5) Просмотр базы клиентов;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5.5.6) Просмотр автомобилей клиентов;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5.5.7) Создание, редактирование и отключение персонала;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5.5.8) Создание новых и редактирование старых филиалов;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5.5.9) Создание новых и редактирование старых услуг;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5.5.10) Внесение новых поставщиков и редактирование старых;</a:t>
            </a:r>
          </a:p>
          <a:p>
            <a:pPr>
              <a:lnSpc>
                <a:spcPct val="150000"/>
              </a:lnSpc>
            </a:pPr>
            <a:r>
              <a:rPr lang="ru-RU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DejaVu Sans" panose="020B0603030804020204" pitchFamily="34" charset="0"/>
                <a:cs typeface="Calibri" panose="020F0502020204030204" pitchFamily="34" charset="0"/>
              </a:rPr>
              <a:t>5.5.11) Внесение новых договоров на закупку комплектующих, а также изменение  и удаление старых;</a:t>
            </a:r>
          </a:p>
          <a:p>
            <a:pPr>
              <a:lnSpc>
                <a:spcPct val="150000"/>
              </a:lnSpc>
            </a:pPr>
            <a:endParaRPr lang="ru-RU" sz="18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DejaVu Sans" panose="020B060303080402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ru-RU" sz="18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DejaVu Sans" panose="020B060303080402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4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2146800" y="293804"/>
            <a:ext cx="789840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800" b="1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Нефункциональные требования</a:t>
            </a:r>
            <a:endParaRPr lang="ru-RU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11109960" y="632448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89F79450-C151-457E-9813-B313ED05920E}" type="slidenum">
              <a:rPr lang="ru-RU" sz="1800" b="0" strike="noStrike" spc="-1">
                <a:solidFill>
                  <a:srgbClr val="FFFFFF"/>
                </a:solidFill>
                <a:latin typeface="Elektra Medium Pro"/>
              </a:rPr>
              <a:t>7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56" name="CustomShape 3"/>
          <p:cNvSpPr/>
          <p:nvPr/>
        </p:nvSpPr>
        <p:spPr>
          <a:xfrm>
            <a:off x="623641" y="828527"/>
            <a:ext cx="11133253" cy="42029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 ходе анализа предметной области были выявлены следующие нефункциональные требования: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1) кроссбраузерность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2) безопасность хранения паролей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3) авторизация с помощью JSON Web Token — открытый стандарт RFC 7519;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Были сформированы следующие требования к тестированию: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1) провести модульное тестирование системы;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2) провести интеграционное тестирование системы;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3) провести нагрузочное тестирование системы, в котором выполняются 3000 запросов от пользователей в течении 30 секунд.</a:t>
            </a:r>
          </a:p>
          <a:p>
            <a:pPr>
              <a:lnSpc>
                <a:spcPct val="150000"/>
              </a:lnSpc>
            </a:pP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20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2146800" y="293804"/>
            <a:ext cx="789840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b="1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ER-</a:t>
            </a:r>
            <a:r>
              <a:rPr lang="ru-RU" b="1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модель</a:t>
            </a:r>
            <a:endParaRPr lang="ru-RU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11109960" y="632448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89F79450-C151-457E-9813-B313ED05920E}" type="slidenum">
              <a:rPr lang="ru-RU" sz="1800" b="0" strike="noStrike" spc="-1">
                <a:solidFill>
                  <a:srgbClr val="FFFFFF"/>
                </a:solidFill>
                <a:latin typeface="Elektra Medium Pro"/>
              </a:rPr>
              <a:t>8</a:t>
            </a:fld>
            <a:endParaRPr lang="ru-RU" sz="1800" b="0" strike="noStrike" spc="-1">
              <a:latin typeface="Arial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AAC88CE-6A95-43E3-9C84-336C42C75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0908" y="829560"/>
            <a:ext cx="6821036" cy="554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6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2146800" y="293804"/>
            <a:ext cx="789840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Логическая модель</a:t>
            </a:r>
            <a:endParaRPr kumimoji="0" lang="ru-RU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DejaVu Sans"/>
              <a:cs typeface="Calibri" panose="020F0502020204030204" pitchFamily="34" charset="0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11109960" y="632448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F79450-C151-457E-9813-B313ED05920E}" type="slidenum">
              <a:rPr kumimoji="0" lang="ru-RU" sz="18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lektra Medium Pro"/>
                <a:ea typeface="DejaVu Sans"/>
                <a:cs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DejaVu Sans"/>
              <a:cs typeface="DejaVu Sans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392EEC-1A52-4BE8-B960-DC3892BC8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4595" y="838986"/>
            <a:ext cx="8870622" cy="537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1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2146800" y="293804"/>
            <a:ext cx="789840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b="1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Физическая модель</a:t>
            </a:r>
            <a:endParaRPr lang="ru-RU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11109960" y="632448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fld id="{89F79450-C151-457E-9813-B313ED05920E}" type="slidenum">
              <a:rPr lang="ru-RU" sz="1800" b="0" strike="noStrike" spc="-1">
                <a:solidFill>
                  <a:srgbClr val="FFFFFF"/>
                </a:solidFill>
                <a:latin typeface="Elektra Medium Pro"/>
              </a:rPr>
              <a:t>10</a:t>
            </a:fld>
            <a:endParaRPr lang="ru-RU" sz="18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E1DF19-E913-4F6C-B3E6-3923594BA3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987" y="923844"/>
            <a:ext cx="10306036" cy="540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35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2118997" y="292347"/>
            <a:ext cx="789840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Заключение</a:t>
            </a:r>
            <a:endParaRPr kumimoji="0" lang="ru-RU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DejaVu Sans"/>
              <a:cs typeface="Calibri" panose="020F0502020204030204" pitchFamily="34" charset="0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11109960" y="6324480"/>
            <a:ext cx="4687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94368-CDBA-4974-8450-BDAC626738DB}" type="slidenum">
              <a:rPr kumimoji="0" lang="ru-RU" sz="18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lektra Medium Pro"/>
                <a:ea typeface="DejaVu Sans"/>
                <a:cs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6539400" y="1914480"/>
            <a:ext cx="490428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577970" y="1115897"/>
            <a:ext cx="11057923" cy="4634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В</a:t>
            </a:r>
          </a:p>
        </p:txBody>
      </p:sp>
    </p:spTree>
    <p:extLst>
      <p:ext uri="{BB962C8B-B14F-4D97-AF65-F5344CB8AC3E}">
        <p14:creationId xmlns:p14="http://schemas.microsoft.com/office/powerpoint/2010/main" val="190220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Рисунок 2"/>
          <p:cNvPicPr/>
          <p:nvPr/>
        </p:nvPicPr>
        <p:blipFill>
          <a:blip r:embed="rId2"/>
          <a:stretch/>
        </p:blipFill>
        <p:spPr>
          <a:xfrm>
            <a:off x="0" y="1800"/>
            <a:ext cx="12191760" cy="6854040"/>
          </a:xfrm>
          <a:prstGeom prst="rect">
            <a:avLst/>
          </a:prstGeom>
          <a:ln>
            <a:noFill/>
          </a:ln>
        </p:spPr>
      </p:pic>
      <p:sp>
        <p:nvSpPr>
          <p:cNvPr id="130" name="CustomShape 1"/>
          <p:cNvSpPr/>
          <p:nvPr/>
        </p:nvSpPr>
        <p:spPr>
          <a:xfrm>
            <a:off x="6627600" y="2721708"/>
            <a:ext cx="3831480" cy="822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БЛАГОДАРЮ </a:t>
            </a:r>
            <a:endParaRPr lang="ru-RU" sz="24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ru-RU" sz="2400" b="1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 ВНИМАНИЕ</a:t>
            </a:r>
            <a:r>
              <a:rPr lang="en-US" sz="2400" b="1" strike="noStrike" spc="-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ru-RU" sz="24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3815</TotalTime>
  <Words>832</Words>
  <Application>Microsoft Office PowerPoint</Application>
  <PresentationFormat>Широкоэкранный</PresentationFormat>
  <Paragraphs>110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Elektra Medium Pro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Евгений Степанов</dc:creator>
  <dc:description/>
  <cp:lastModifiedBy>Михаил Кондратьев</cp:lastModifiedBy>
  <cp:revision>162</cp:revision>
  <dcterms:created xsi:type="dcterms:W3CDTF">2016-03-09T10:31:39Z</dcterms:created>
  <dcterms:modified xsi:type="dcterms:W3CDTF">2026-06-02T08:35:31Z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Широкоэкранный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