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87" r:id="rId4"/>
    <p:sldId id="276" r:id="rId5"/>
    <p:sldId id="286" r:id="rId6"/>
    <p:sldId id="277" r:id="rId7"/>
    <p:sldId id="290" r:id="rId8"/>
    <p:sldId id="278" r:id="rId9"/>
    <p:sldId id="288" r:id="rId10"/>
    <p:sldId id="289" r:id="rId11"/>
    <p:sldId id="280" r:id="rId12"/>
    <p:sldId id="291" r:id="rId13"/>
    <p:sldId id="293" r:id="rId14"/>
    <p:sldId id="294" r:id="rId15"/>
    <p:sldId id="295" r:id="rId16"/>
    <p:sldId id="292" r:id="rId17"/>
    <p:sldId id="296" r:id="rId18"/>
    <p:sldId id="297" r:id="rId19"/>
    <p:sldId id="298" r:id="rId20"/>
    <p:sldId id="299" r:id="rId21"/>
    <p:sldId id="282" r:id="rId22"/>
    <p:sldId id="272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81" d="100"/>
          <a:sy n="81" d="100"/>
        </p:scale>
        <p:origin x="725" y="62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ru-RU" sz="1800" b="0" strike="noStrike" spc="-1">
                <a:solidFill>
                  <a:srgbClr val="000000"/>
                </a:solidFill>
                <a:latin typeface="Calibri"/>
              </a:rPr>
              <a:t>Click to move the slide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ru-RU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ru-RU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/>
            <a:r>
              <a:rPr lang="ru-RU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r>
              <a:rPr lang="ru-RU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6" name="PlaceHolder 6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pPr algn="r"/>
            <a:fld id="{D84B38CD-0885-4696-9629-D452F163E879}" type="slidenum">
              <a:rPr lang="ru-RU" sz="1400" b="0" strike="noStrike" spc="-1">
                <a:latin typeface="Times New Roman"/>
              </a:rPr>
              <a:t>‹#›</a:t>
            </a:fld>
            <a:endParaRPr lang="ru-RU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ru-RU" sz="2000" b="0" strike="noStrike" spc="-1">
              <a:latin typeface="Arial"/>
            </a:endParaRPr>
          </a:p>
        </p:txBody>
      </p:sp>
      <p:sp>
        <p:nvSpPr>
          <p:cNvPr id="133" name="TextShape 3"/>
          <p:cNvSpPr txBox="1"/>
          <p:nvPr/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fld id="{130B3E93-A261-4648-9214-2FF100CAE945}" type="slidenum">
              <a:rPr lang="ru-RU" sz="1200" b="0" strike="noStrike" spc="-1">
                <a:solidFill>
                  <a:srgbClr val="000000"/>
                </a:solidFill>
                <a:latin typeface="+mn-lt"/>
                <a:ea typeface="+mn-ea"/>
              </a:rPr>
              <a:t>2</a:t>
            </a:fld>
            <a:endParaRPr lang="ru-RU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ru-RU" sz="2000" b="0" strike="noStrike" spc="-1" dirty="0">
              <a:latin typeface="Arial"/>
            </a:endParaRPr>
          </a:p>
        </p:txBody>
      </p:sp>
      <p:sp>
        <p:nvSpPr>
          <p:cNvPr id="133" name="TextShape 3"/>
          <p:cNvSpPr txBox="1"/>
          <p:nvPr/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fld id="{130B3E93-A261-4648-9214-2FF100CAE945}" type="slidenum">
              <a:rPr lang="ru-RU" sz="1200" b="0" strike="noStrike" spc="-1">
                <a:solidFill>
                  <a:srgbClr val="000000"/>
                </a:solidFill>
                <a:latin typeface="+mn-lt"/>
                <a:ea typeface="+mn-ea"/>
              </a:rPr>
              <a:t>3</a:t>
            </a:fld>
            <a:endParaRPr lang="ru-RU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641144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ru-RU" sz="6000" b="0" strike="noStrike" spc="-1">
                <a:solidFill>
                  <a:srgbClr val="000000"/>
                </a:solidFill>
                <a:latin typeface="Calibri Light"/>
              </a:rPr>
              <a:t>Образец заголовка</a:t>
            </a:r>
            <a:endParaRPr lang="ru-RU" sz="6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fld id="{069C56A8-736F-4026-AB81-39B7F425AD5C}" type="datetime1">
              <a:rPr lang="ru-RU" sz="1200" b="0" strike="noStrike" spc="-1">
                <a:solidFill>
                  <a:srgbClr val="8B8B8B"/>
                </a:solidFill>
                <a:latin typeface="Calibri"/>
              </a:rPr>
              <a:t>01.06.2026</a:t>
            </a:fld>
            <a:endParaRPr lang="ru-RU" sz="1200" b="0" strike="noStrike" spc="-1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endParaRPr lang="ru-RU" sz="2400" b="0" strike="noStrike" spc="-1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3A89469F-CC63-4F3B-8250-2152A63D7E3E}" type="slidenum">
              <a:rPr lang="ru-RU" sz="1200" b="0" strike="noStrike" spc="-1">
                <a:solidFill>
                  <a:srgbClr val="8B8B8B"/>
                </a:solidFill>
                <a:latin typeface="Calibri"/>
              </a:rPr>
              <a:t>‹#›</a:t>
            </a:fld>
            <a:endParaRPr lang="ru-RU" sz="1200" b="0" strike="noStrike" spc="-1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strike="noStrike" spc="-1">
                <a:solidFill>
                  <a:srgbClr val="000000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strike="noStrike" spc="-1">
                <a:solidFill>
                  <a:srgbClr val="000000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"/>
          <p:cNvPicPr/>
          <p:nvPr/>
        </p:nvPicPr>
        <p:blipFill>
          <a:blip r:embed="rId2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</p:pic>
      <p:sp>
        <p:nvSpPr>
          <p:cNvPr id="48" name="CustomShape 1"/>
          <p:cNvSpPr/>
          <p:nvPr/>
        </p:nvSpPr>
        <p:spPr>
          <a:xfrm>
            <a:off x="6912535" y="3271887"/>
            <a:ext cx="3644640" cy="119887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Курсовая работа</a:t>
            </a:r>
          </a:p>
          <a:p>
            <a:pPr algn="ctr">
              <a:lnSpc>
                <a:spcPct val="100000"/>
              </a:lnSpc>
            </a:pPr>
            <a:r>
              <a:rPr lang="ru-RU" sz="180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Проектирование и реализация информационной системы “Авторемонтная мастерская”</a:t>
            </a:r>
          </a:p>
        </p:txBody>
      </p:sp>
      <p:sp>
        <p:nvSpPr>
          <p:cNvPr id="49" name="CustomShape 2"/>
          <p:cNvSpPr/>
          <p:nvPr/>
        </p:nvSpPr>
        <p:spPr>
          <a:xfrm>
            <a:off x="6459840" y="4899294"/>
            <a:ext cx="4808160" cy="12296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r>
              <a:rPr lang="ru-RU" sz="1400" b="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Выполнил: студент курса 3 группы 4345-020303D</a:t>
            </a:r>
            <a:br>
              <a:rPr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1400" b="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Кондратьев М.А</a:t>
            </a:r>
            <a:br>
              <a:rPr lang="ru-RU" sz="1400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1400" b="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Научный руководитель: к.ф.-м.н., доцент</a:t>
            </a:r>
            <a:br>
              <a:rPr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1400" b="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Е.В. Рогачева</a:t>
            </a:r>
            <a:endParaRPr lang="ru-RU" sz="14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CustomShape 3"/>
          <p:cNvSpPr/>
          <p:nvPr/>
        </p:nvSpPr>
        <p:spPr>
          <a:xfrm>
            <a:off x="6599520" y="6469200"/>
            <a:ext cx="3845880" cy="303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400" b="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Самара, 202</a:t>
            </a:r>
            <a:r>
              <a:rPr lang="en-US" sz="1400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</a:t>
            </a:r>
            <a:endParaRPr lang="ru-RU" sz="14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D0BADF-01AA-4E94-915D-4EF38A4A4561}"/>
              </a:ext>
            </a:extLst>
          </p:cNvPr>
          <p:cNvSpPr txBox="1"/>
          <p:nvPr/>
        </p:nvSpPr>
        <p:spPr>
          <a:xfrm>
            <a:off x="4430599" y="1456005"/>
            <a:ext cx="656105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Естественнонаучный институт </a:t>
            </a:r>
          </a:p>
          <a:p>
            <a:r>
              <a:rPr lang="ru-RU" sz="14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Механико-математический факультет </a:t>
            </a:r>
          </a:p>
          <a:p>
            <a:r>
              <a:rPr lang="ru-RU" sz="14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Кафедра информатики и вычислительной математики </a:t>
            </a:r>
          </a:p>
          <a:p>
            <a:r>
              <a:rPr lang="ru-RU" sz="14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Направление подготовки</a:t>
            </a:r>
          </a:p>
          <a:p>
            <a:r>
              <a:rPr lang="ru-RU" sz="14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02.03.03 Математическое обеспечение и администрирование информационных</a:t>
            </a:r>
          </a:p>
          <a:p>
            <a:r>
              <a:rPr lang="ru-RU" sz="14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систем </a:t>
            </a:r>
          </a:p>
          <a:p>
            <a:r>
              <a:rPr lang="ru-RU" sz="14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Направленность (профиль) «Разработка и администрирование информационных </a:t>
            </a:r>
          </a:p>
          <a:p>
            <a:r>
              <a:rPr lang="ru-RU" sz="14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систем»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ustomShape 1"/>
          <p:cNvSpPr/>
          <p:nvPr/>
        </p:nvSpPr>
        <p:spPr>
          <a:xfrm>
            <a:off x="628985" y="989814"/>
            <a:ext cx="11126240" cy="295640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50000"/>
              </a:lnSpc>
            </a:pPr>
            <a:r>
              <a:rPr lang="ru-RU" spc="-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Рост объема обращений в автосервисы приводит к увеличению нагрузки на персонал, усложнению различных процессов, например таких как учёт заказов и клиентов, а привычные методы организации деятельности теряют свою эффективность.</a:t>
            </a:r>
          </a:p>
          <a:p>
            <a:pPr>
              <a:lnSpc>
                <a:spcPct val="150000"/>
              </a:lnSpc>
            </a:pPr>
            <a:endParaRPr lang="ru-RU" spc="-1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ru-RU" spc="-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В следствие данных условий, внедрение информационной системы авторемонтной мастерской имеет особую актуальность, за счет своих функций, обеспечивающих автоматизацию процессов приёма и обработки заказов, ведение клиентской базы, а также учет выполненных работ и используемых материалов.</a:t>
            </a:r>
            <a:endParaRPr lang="ru-RU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CustomShape 2"/>
          <p:cNvSpPr/>
          <p:nvPr/>
        </p:nvSpPr>
        <p:spPr>
          <a:xfrm>
            <a:off x="2146800" y="301578"/>
            <a:ext cx="7898400" cy="36787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80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Актуальность</a:t>
            </a:r>
            <a:r>
              <a:rPr lang="ru-RU" sz="1800" b="1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ru-RU" sz="18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CustomShape 3"/>
          <p:cNvSpPr/>
          <p:nvPr/>
        </p:nvSpPr>
        <p:spPr>
          <a:xfrm>
            <a:off x="11105640" y="634104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283B2C4B-68A0-420A-9458-7EA81EC25ADC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2</a:t>
            </a:fld>
            <a:endParaRPr lang="ru-RU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ustomShape 1"/>
          <p:cNvSpPr/>
          <p:nvPr/>
        </p:nvSpPr>
        <p:spPr>
          <a:xfrm>
            <a:off x="628985" y="862073"/>
            <a:ext cx="11154520" cy="12948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spc="-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Цель: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b="0" strike="noStrike" spc="-1" dirty="0">
                <a:latin typeface="Calibri" panose="020F0502020204030204" pitchFamily="34" charset="0"/>
                <a:cs typeface="Calibri" panose="020F0502020204030204" pitchFamily="34" charset="0"/>
              </a:rPr>
              <a:t>Разработка информационной системы для авторемонтной мастерской, которая позволяет записывать клиентов на ремонт, принимать автомобили на ремонт, формировать заказ-наряды клиентам.</a:t>
            </a:r>
          </a:p>
        </p:txBody>
      </p:sp>
      <p:sp>
        <p:nvSpPr>
          <p:cNvPr id="52" name="CustomShape 2"/>
          <p:cNvSpPr/>
          <p:nvPr/>
        </p:nvSpPr>
        <p:spPr>
          <a:xfrm>
            <a:off x="2146800" y="302997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80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Цель и задачи курсовой работы</a:t>
            </a:r>
            <a:endParaRPr lang="ru-RU" sz="180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CustomShape 3"/>
          <p:cNvSpPr/>
          <p:nvPr/>
        </p:nvSpPr>
        <p:spPr>
          <a:xfrm>
            <a:off x="11105640" y="634104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283B2C4B-68A0-420A-9458-7EA81EC25ADC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3</a:t>
            </a:fld>
            <a:endParaRPr lang="ru-RU" sz="1800" b="0" strike="noStrike" spc="-1">
              <a:latin typeface="Arial"/>
            </a:endParaRPr>
          </a:p>
        </p:txBody>
      </p:sp>
      <p:sp>
        <p:nvSpPr>
          <p:cNvPr id="5" name="CustomShape 1"/>
          <p:cNvSpPr/>
          <p:nvPr/>
        </p:nvSpPr>
        <p:spPr>
          <a:xfrm>
            <a:off x="628985" y="2178140"/>
            <a:ext cx="11501882" cy="396886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200000"/>
              </a:lnSpc>
            </a:pPr>
            <a:r>
              <a:rPr lang="ru-RU" b="1" spc="-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Задачи: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провести анализ предметной области;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изучить существующие системы-аналоги;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сформулировать функциональные и нефункциональные требования к системе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построить информационную модель данных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построить логическую модель данных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выбрать СУБД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построить физическую модель данных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спроектировать веб-приложение для работы с созданной базой данных;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выбрать средства реализации;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реализовать приложение;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провести модульное, интеграционное, нагрузочное тестирование;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проверить работоспособность системы.</a:t>
            </a:r>
          </a:p>
        </p:txBody>
      </p:sp>
    </p:spTree>
    <p:extLst>
      <p:ext uri="{BB962C8B-B14F-4D97-AF65-F5344CB8AC3E}">
        <p14:creationId xmlns:p14="http://schemas.microsoft.com/office/powerpoint/2010/main" val="3429863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80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Обзор аналогов</a:t>
            </a:r>
            <a:endParaRPr lang="ru-RU" sz="180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4</a:t>
            </a:fld>
            <a:endParaRPr lang="ru-RU" sz="1800" b="0" strike="noStrike" spc="-1">
              <a:latin typeface="Arial"/>
            </a:endParaRPr>
          </a:p>
        </p:txBody>
      </p:sp>
      <p:sp>
        <p:nvSpPr>
          <p:cNvPr id="56" name="CustomShape 3"/>
          <p:cNvSpPr/>
          <p:nvPr/>
        </p:nvSpPr>
        <p:spPr>
          <a:xfrm>
            <a:off x="660397" y="1025596"/>
            <a:ext cx="6984741" cy="378740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Информационная система авторемонтной мастерской «Навигатор» предоставляет пользователю возможность записи в авторемонтную мастерскую,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возможность просмотра каталога оказываемых услуг. Также есть возможность просмотра отзывов клиентов.</a:t>
            </a:r>
          </a:p>
          <a:p>
            <a:pPr>
              <a:lnSpc>
                <a:spcPct val="150000"/>
              </a:lnSpc>
            </a:pPr>
            <a:endParaRPr lang="ru-RU" dirty="0">
              <a:solidFill>
                <a:srgbClr val="000000"/>
              </a:solidFill>
              <a:latin typeface="Calibri" panose="020F0502020204030204" pitchFamily="34" charset="0"/>
              <a:ea typeface="DejaVu Sans" panose="020B060303080402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Минусом данной информационной системы является отсутствие личного кабинета, следовательно отсутствие возможности самостоятельного просмотра статуса обслуживаемых автомобилей без обращения к администратору.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5D74B97-AC0B-4AB3-AEFA-5AC103E94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6119" y="931328"/>
            <a:ext cx="42005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167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2110288" y="285840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80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Обзор аналогов</a:t>
            </a:r>
            <a:endParaRPr lang="ru-RU" sz="180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7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70B94368-CDBA-4974-8450-BDAC626738DB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5</a:t>
            </a:fld>
            <a:endParaRPr lang="ru-RU" sz="1800" b="0" strike="noStrike" spc="-1">
              <a:latin typeface="Arial"/>
            </a:endParaRPr>
          </a:p>
        </p:txBody>
      </p:sp>
      <p:sp>
        <p:nvSpPr>
          <p:cNvPr id="109" name="CustomShape 4"/>
          <p:cNvSpPr/>
          <p:nvPr/>
        </p:nvSpPr>
        <p:spPr>
          <a:xfrm>
            <a:off x="680409" y="1192083"/>
            <a:ext cx="6785618" cy="420290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50000"/>
              </a:lnSpc>
            </a:pPr>
            <a:r>
              <a:rPr lang="ru-RU" spc="-1" dirty="0">
                <a:latin typeface="Calibri" panose="020F0502020204030204" pitchFamily="34" charset="0"/>
                <a:cs typeface="Calibri" panose="020F0502020204030204" pitchFamily="34" charset="0"/>
              </a:rPr>
              <a:t>Информационная система авторемонтной мастерской «Автокрепеж» </a:t>
            </a:r>
            <a:r>
              <a:rPr lang="ru-RU" dirty="0">
                <a:solidFill>
                  <a:srgbClr val="000000"/>
                </a:solidFill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предоставляет пользователю возможности возможность подробно изучить оказываемые данной авторемонтной мастерской услуги, узнать информацию о компании, заказать обратный звонок, а также записаться на обслуживание с помощью онлайн-записи. </a:t>
            </a:r>
          </a:p>
          <a:p>
            <a:pPr>
              <a:lnSpc>
                <a:spcPct val="150000"/>
              </a:lnSpc>
            </a:pPr>
            <a:endParaRPr lang="ru-RU" spc="-1" dirty="0">
              <a:solidFill>
                <a:srgbClr val="000000"/>
              </a:solidFill>
              <a:latin typeface="Calibri" panose="020F0502020204030204" pitchFamily="34" charset="0"/>
              <a:ea typeface="DejaVu Sans" panose="020B060303080402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ru-RU" spc="-1" dirty="0">
                <a:solidFill>
                  <a:srgbClr val="000000"/>
                </a:solidFill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Минусом данной информационной системы является отсутствие указания марки и модели автомобиля, который будет обслуживаться, при создании онлайн-заявки.</a:t>
            </a:r>
            <a:endParaRPr lang="ru-RU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E37331E-0738-4F9A-AAF3-79CC81BFB5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027" y="2590572"/>
            <a:ext cx="4392083" cy="1184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636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80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Функциональные требования</a:t>
            </a:r>
            <a:endParaRPr lang="ru-RU" sz="180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6</a:t>
            </a:fld>
            <a:endParaRPr lang="ru-RU" sz="1800" b="0" strike="noStrike" spc="-1">
              <a:latin typeface="Arial"/>
            </a:endParaRPr>
          </a:p>
        </p:txBody>
      </p:sp>
      <p:sp>
        <p:nvSpPr>
          <p:cNvPr id="56" name="CustomShape 3"/>
          <p:cNvSpPr/>
          <p:nvPr/>
        </p:nvSpPr>
        <p:spPr>
          <a:xfrm>
            <a:off x="553299" y="733366"/>
            <a:ext cx="11085401" cy="53538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Для разработки ИС были выявлены следующие функциональные требования: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1) Возможность оформления заявки в авторемонтную мастерскую по звонку и с помощью веб-приложения;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2) Хранение информации о каждой оказываемой услуге: стоимость, подробное описание услуги, примерное время выполнения услуги;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3) Создание, хранение и, если позволяет статус, редактирование заказ-нарядов;</a:t>
            </a:r>
            <a:endParaRPr lang="en-US" sz="1800" kern="1200" dirty="0">
              <a:solidFill>
                <a:srgbClr val="000000"/>
              </a:solidFill>
              <a:effectLst/>
              <a:latin typeface="Calibri" panose="020F0502020204030204" pitchFamily="34" charset="0"/>
              <a:ea typeface="DejaVu Sans" panose="020B0603030804020204" pitchFamily="34" charset="0"/>
              <a:cs typeface="Calibri" panose="020F0502020204030204" pitchFamily="34" charset="0"/>
            </a:endParaRPr>
          </a:p>
          <a:p>
            <a:r>
              <a:rPr lang="en-U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4</a:t>
            </a:r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) Осуществление разграничения прав и возможностей в зависимости от уровня доступа: незарегистрированный и зарегистрированный пользователь, администратор, мастер-приёмщик, владелец/менеджер:</a:t>
            </a:r>
          </a:p>
          <a:p>
            <a:r>
              <a:rPr lang="en-U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4</a:t>
            </a:r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.1) Предоставление следующего функционала незарегистрированному пользователю:</a:t>
            </a:r>
          </a:p>
          <a:p>
            <a:r>
              <a:rPr lang="en-U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4</a:t>
            </a:r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.1.1) Просмотр информации об оказываемых услугах и контактах авторемонтных мастерских;</a:t>
            </a:r>
          </a:p>
          <a:p>
            <a:r>
              <a:rPr lang="en-U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4</a:t>
            </a:r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.1.2) Запись в авторемонтную мастерскую </a:t>
            </a:r>
            <a:r>
              <a:rPr lang="ru-RU" dirty="0">
                <a:solidFill>
                  <a:srgbClr val="000000"/>
                </a:solidFill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по звонку или по заявке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;</a:t>
            </a:r>
            <a:endParaRPr lang="ru-RU" dirty="0">
              <a:solidFill>
                <a:srgbClr val="000000"/>
              </a:solidFill>
              <a:latin typeface="Calibri" panose="020F0502020204030204" pitchFamily="34" charset="0"/>
              <a:ea typeface="DejaVu Sans" panose="020B060303080402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4</a:t>
            </a:r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.2) Предоставление следующего функционала зарегистрированному пользователю: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4</a:t>
            </a:r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.2.1) Просмотр информации об оказываемых услугах и контактах авторемонтных мастерских;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4</a:t>
            </a:r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.2.2) Запись в авторемонтную мастерскую </a:t>
            </a:r>
            <a:r>
              <a:rPr lang="ru-RU" dirty="0">
                <a:solidFill>
                  <a:srgbClr val="000000"/>
                </a:solidFill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по звонку или по заявке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;</a:t>
            </a:r>
            <a:endParaRPr lang="ru-RU" sz="1800" kern="1200" dirty="0">
              <a:solidFill>
                <a:srgbClr val="000000"/>
              </a:solidFill>
              <a:effectLst/>
              <a:latin typeface="Calibri" panose="020F0502020204030204" pitchFamily="34" charset="0"/>
              <a:ea typeface="DejaVu Sans" panose="020B0603030804020204" pitchFamily="34" charset="0"/>
              <a:cs typeface="Calibri" panose="020F0502020204030204" pitchFamily="34" charset="0"/>
            </a:endParaRP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4.2.3) Возможность авторизации;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4.2.4) Доступ к личному кабинету и отслеживание в нём статусов обслуживаемых автомобилей, а также просмотр прошлых обращений </a:t>
            </a:r>
          </a:p>
          <a:p>
            <a:endParaRPr lang="ru-RU" sz="1800" kern="1200" dirty="0">
              <a:solidFill>
                <a:srgbClr val="000000"/>
              </a:solidFill>
              <a:effectLst/>
              <a:latin typeface="Calibri" panose="020F0502020204030204" pitchFamily="34" charset="0"/>
              <a:ea typeface="DejaVu Sans" panose="020B0603030804020204" pitchFamily="34" charset="0"/>
              <a:cs typeface="Calibri" panose="020F0502020204030204" pitchFamily="34" charset="0"/>
            </a:endParaRPr>
          </a:p>
          <a:p>
            <a:pPr marL="342900" indent="-342900">
              <a:buAutoNum type="arabicParenR"/>
            </a:pP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645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80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Функциональные требования</a:t>
            </a:r>
            <a:endParaRPr lang="ru-RU" sz="180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7</a:t>
            </a:fld>
            <a:endParaRPr lang="ru-RU" sz="1800" b="0" strike="noStrike" spc="-1">
              <a:latin typeface="Arial"/>
            </a:endParaRPr>
          </a:p>
        </p:txBody>
      </p:sp>
      <p:sp>
        <p:nvSpPr>
          <p:cNvPr id="56" name="CustomShape 3"/>
          <p:cNvSpPr/>
          <p:nvPr/>
        </p:nvSpPr>
        <p:spPr>
          <a:xfrm>
            <a:off x="553299" y="733366"/>
            <a:ext cx="11085401" cy="812384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5.3) Предоставление следующего функционала администратору: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5.3.1) Возможность авторизации;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5.3.2) Доступ к личному кабинету;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5.3.3) Создание и редактирование клиентов;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5.3.4) Выдача доступа к аккаунту клиенту;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5.3.5) Создание и редактирование автомобилей клиентов;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5.3.6) Создание и редактирование заявок;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5.4) Предоставление следующего функционала мастеру-приёмщику: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5.4.1) Возможность авторизации;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5.4.2) Доступ к личному кабинету;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5.4.3) Создание и редактирование заказ-нарядов;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5.4.4) Внесение новых поставщиков и редактирование старых;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5.4.5) Внесение новых договоров на закупку комплектующих, а также изменение  и удаление старых;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5.5) Предоставление следующего функционала владельцу/менеджеру: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5.5.1) Возможность авторизации;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5.5.2) Доступ к личному кабинету;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5.5.3) Просмотр заявок;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5.5.4) Просмотр заказ-нарядов;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5.5.5) Просмотр базы клиентов;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5.5.6) Просмотр автомобилей клиентов;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5.5.7) Создание, редактирование и отключение персонала;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5.5.8) Создание новых и редактирование старых филиалов;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5.5.9) Создание новых и редактирование старых услуг;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5.5.10) Внесение новых поставщиков и редактирование старых;</a:t>
            </a:r>
          </a:p>
          <a:p>
            <a:r>
              <a:rPr lang="ru-RU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jaVu Sans" panose="020B0603030804020204" pitchFamily="34" charset="0"/>
                <a:cs typeface="Calibri" panose="020F0502020204030204" pitchFamily="34" charset="0"/>
              </a:rPr>
              <a:t>5.5.11) Внесение новых договоров на закупку комплектующих, а также изменение  и удаление старых;</a:t>
            </a:r>
          </a:p>
          <a:p>
            <a:endParaRPr lang="ru-RU" sz="1800" kern="1200" dirty="0">
              <a:solidFill>
                <a:srgbClr val="000000"/>
              </a:solidFill>
              <a:effectLst/>
              <a:latin typeface="Calibri" panose="020F0502020204030204" pitchFamily="34" charset="0"/>
              <a:ea typeface="DejaVu Sans" panose="020B0603030804020204" pitchFamily="34" charset="0"/>
              <a:cs typeface="Calibri" panose="020F0502020204030204" pitchFamily="34" charset="0"/>
            </a:endParaRPr>
          </a:p>
          <a:p>
            <a:endParaRPr lang="ru-RU" sz="1800" kern="1200" dirty="0">
              <a:solidFill>
                <a:srgbClr val="000000"/>
              </a:solidFill>
              <a:effectLst/>
              <a:latin typeface="Calibri" panose="020F0502020204030204" pitchFamily="34" charset="0"/>
              <a:ea typeface="DejaVu Sans" panose="020B0603030804020204" pitchFamily="34" charset="0"/>
              <a:cs typeface="Calibri" panose="020F0502020204030204" pitchFamily="34" charset="0"/>
            </a:endParaRPr>
          </a:p>
          <a:p>
            <a:pPr marL="342900" indent="-342900">
              <a:buAutoNum type="arabicParenR"/>
            </a:pP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834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80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Нефункциональные требования</a:t>
            </a:r>
            <a:endParaRPr lang="ru-RU" sz="180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8</a:t>
            </a:fld>
            <a:endParaRPr lang="ru-RU" sz="1800" b="0" strike="noStrike" spc="-1">
              <a:latin typeface="Arial"/>
            </a:endParaRPr>
          </a:p>
        </p:txBody>
      </p:sp>
      <p:sp>
        <p:nvSpPr>
          <p:cNvPr id="56" name="CustomShape 3"/>
          <p:cNvSpPr/>
          <p:nvPr/>
        </p:nvSpPr>
        <p:spPr>
          <a:xfrm>
            <a:off x="623641" y="828527"/>
            <a:ext cx="11133253" cy="420290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 ходе анализа предметной области были выявлены следующие нефункциональные требования: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1) кроссбраузерность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2) безопасность хранения паролей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3) авторизация с помощью JSON Web Token — открытый стандарт RFC 7519;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Были сформированы следующие требования к тестированию: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1) провести модульное тестирование системы;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2) провести интеграционное тестирование системы;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3) провести нагрузочное тестирование системы, в котором выполняются 3000 запросов от пользователей в течении 30 секунд.</a:t>
            </a:r>
          </a:p>
          <a:p>
            <a:pPr>
              <a:lnSpc>
                <a:spcPct val="150000"/>
              </a:lnSpc>
            </a:pP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12070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ER-</a:t>
            </a:r>
            <a:r>
              <a:rPr lang="ru-RU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модель</a:t>
            </a:r>
            <a:endParaRPr lang="ru-RU" sz="180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9</a:t>
            </a:fld>
            <a:endParaRPr lang="ru-RU" sz="1800" b="0" strike="noStrike" spc="-1">
              <a:latin typeface="Arial"/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EAAC88CE-6A95-43E3-9C84-336C42C75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80908" y="829560"/>
            <a:ext cx="6821036" cy="5542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69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DejaVu Sans"/>
                <a:cs typeface="Calibri" panose="020F0502020204030204" pitchFamily="34" charset="0"/>
              </a:rPr>
              <a:t>Логическая модель</a:t>
            </a:r>
            <a:endParaRPr kumimoji="0" lang="ru-RU" sz="1800" i="0" u="none" strike="noStrike" kern="1200" cap="none" spc="-1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DejaVu Sans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9F79450-C151-457E-9813-B313ED05920E}" type="slidenum">
              <a:rPr kumimoji="0" lang="ru-RU" sz="1800" b="0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Elektra Medium Pro"/>
                <a:ea typeface="DejaVu Sans"/>
                <a:cs typeface="DejaVu San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ru-RU" sz="1800" b="0" i="0" u="none" strike="noStrike" kern="1200" cap="none" spc="-1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DejaVu Sans"/>
              <a:cs typeface="DejaVu Sans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B392EEC-1A52-4BE8-B960-DC3892BC8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04595" y="838986"/>
            <a:ext cx="8870622" cy="5379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510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Физическая модель</a:t>
            </a:r>
            <a:endParaRPr lang="ru-RU" sz="180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11</a:t>
            </a:fld>
            <a:endParaRPr lang="ru-RU" sz="1800" b="0" strike="noStrike" spc="-1"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4E1DF19-E913-4F6C-B3E6-3923594BA3E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987" y="923844"/>
            <a:ext cx="10306036" cy="5400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035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800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Архитектура системы</a:t>
            </a:r>
            <a:endParaRPr lang="ru-RU" sz="180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12</a:t>
            </a:fld>
            <a:endParaRPr lang="ru-RU" sz="1800" b="0" strike="noStrike" spc="-1"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8ECF74F-671F-4260-BDA3-0D199ADB3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282" y="1462623"/>
            <a:ext cx="10107436" cy="287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308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Диаграмма вариантов использования</a:t>
            </a:r>
            <a:endParaRPr lang="ru-RU" sz="180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13</a:t>
            </a:fld>
            <a:endParaRPr lang="ru-RU" sz="1800" b="0" strike="noStrike" spc="-1"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8ECF74F-671F-4260-BDA3-0D199ADB3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1923069"/>
            <a:ext cx="12144043" cy="2309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570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Диаграмма вариантов использования</a:t>
            </a:r>
            <a:endParaRPr lang="ru-RU" sz="180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14</a:t>
            </a:fld>
            <a:endParaRPr lang="ru-RU" sz="1800" b="0" strike="noStrike" spc="-1"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8ECF74F-671F-4260-BDA3-0D199ADB3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8987" y="1140642"/>
            <a:ext cx="11634026" cy="401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7132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Диаграмма последовательности</a:t>
            </a:r>
            <a:endParaRPr lang="ru-RU" sz="180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15</a:t>
            </a:fld>
            <a:endParaRPr lang="ru-RU" sz="1800" b="0" strike="noStrike" spc="-1"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8ECF74F-671F-4260-BDA3-0D199ADB302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770723" y="744461"/>
            <a:ext cx="4072378" cy="560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088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pc="-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Каталог услуг</a:t>
            </a:r>
            <a:endParaRPr lang="ru-RU" sz="1800" b="0" strike="noStrike" spc="-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16</a:t>
            </a:fld>
            <a:endParaRPr lang="ru-RU" sz="1800" b="0" strike="noStrike" spc="-1">
              <a:latin typeface="Arial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ECE596C-179D-4AD8-ADE7-0E595B8B7C63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641023" y="820132"/>
            <a:ext cx="11067068" cy="5128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2149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800" b="0" strike="noStrike" spc="-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Личный кабинет-з</a:t>
            </a:r>
            <a:r>
              <a:rPr lang="ru-RU" spc="-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аказ-наряды</a:t>
            </a:r>
            <a:endParaRPr lang="ru-RU" sz="1800" b="0" strike="noStrike" spc="-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17</a:t>
            </a:fld>
            <a:endParaRPr lang="ru-RU" sz="1800" b="0" strike="noStrike" spc="-1">
              <a:latin typeface="Arial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ECE596C-179D-4AD8-ADE7-0E595B8B7C6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1023" y="825831"/>
            <a:ext cx="11067068" cy="511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345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800" b="0" strike="noStrike" spc="-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Тестирование</a:t>
            </a: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18</a:t>
            </a:fld>
            <a:endParaRPr lang="ru-RU" sz="1800" b="0" strike="noStrike" spc="-1"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ED034A7-FDFF-42A5-93DD-EAF4C6C76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29" y="1514811"/>
            <a:ext cx="3198591" cy="3198591"/>
          </a:xfrm>
          <a:prstGeom prst="rect">
            <a:avLst/>
          </a:prstGeom>
        </p:spPr>
      </p:pic>
      <p:pic>
        <p:nvPicPr>
          <p:cNvPr id="2052" name="Picture 4" descr="SOA Testing with Mocha, Chai and Supertest">
            <a:extLst>
              <a:ext uri="{FF2B5EF4-FFF2-40B4-BE49-F238E27FC236}">
                <a16:creationId xmlns:a16="http://schemas.microsoft.com/office/drawing/2014/main" id="{C409A7B2-C3D7-4741-89D6-A43918932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008" y="1371707"/>
            <a:ext cx="3348517" cy="33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D151EFDF-40C2-49CA-8020-92F5055ED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1525" y="2203002"/>
            <a:ext cx="4962525" cy="168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4782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pc="-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Модульное и интеграционное тестирование</a:t>
            </a:r>
            <a:endParaRPr lang="ru-RU" sz="1800" b="0" strike="noStrike" spc="-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19</a:t>
            </a:fld>
            <a:endParaRPr lang="ru-RU" sz="1800" b="0" strike="noStrike" spc="-1">
              <a:latin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F8377A5-B452-4B95-A573-ECBC1E28E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919221"/>
            <a:ext cx="6504495" cy="19385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A64769E-25DB-481E-89AF-C24E603476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7666" y="1725104"/>
            <a:ext cx="5804334" cy="2967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293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stomShape 1"/>
          <p:cNvSpPr/>
          <p:nvPr/>
        </p:nvSpPr>
        <p:spPr>
          <a:xfrm>
            <a:off x="2146800" y="293804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pc="-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Нагрузочное тестирование </a:t>
            </a:r>
            <a:r>
              <a:rPr lang="en-US" spc="-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JMeter</a:t>
            </a:r>
            <a:endParaRPr lang="ru-RU" sz="1800" b="0" strike="noStrike" spc="-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fld id="{89F79450-C151-457E-9813-B313ED05920E}" type="slidenum">
              <a:rPr lang="ru-RU" sz="1800" b="0" strike="noStrike" spc="-1">
                <a:solidFill>
                  <a:srgbClr val="FFFFFF"/>
                </a:solidFill>
                <a:latin typeface="Elektra Medium Pro"/>
              </a:rPr>
              <a:t>20</a:t>
            </a:fld>
            <a:endParaRPr lang="ru-RU" sz="1800" b="0" strike="noStrike" spc="-1"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E746306-4A11-4A5E-9D6F-959BC5188E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79604"/>
            <a:ext cx="12192000" cy="150106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7C3B506-C405-4F1E-8000-D7F80F0AD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57370"/>
            <a:ext cx="12192000" cy="1477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0197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2118997" y="292347"/>
            <a:ext cx="7898400" cy="365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DejaVu Sans"/>
                <a:cs typeface="Calibri" panose="020F0502020204030204" pitchFamily="34" charset="0"/>
              </a:rPr>
              <a:t>Заключение</a:t>
            </a:r>
            <a:endParaRPr kumimoji="0" lang="ru-RU" sz="1800" b="0" i="0" u="none" strike="noStrike" kern="1200" cap="none" spc="-1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DejaVu Sans"/>
              <a:cs typeface="Calibri" panose="020F0502020204030204" pitchFamily="34" charset="0"/>
            </a:endParaRPr>
          </a:p>
        </p:txBody>
      </p:sp>
      <p:sp>
        <p:nvSpPr>
          <p:cNvPr id="107" name="CustomShape 2"/>
          <p:cNvSpPr/>
          <p:nvPr/>
        </p:nvSpPr>
        <p:spPr>
          <a:xfrm>
            <a:off x="11109960" y="6324480"/>
            <a:ext cx="4687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B94368-CDBA-4974-8450-BDAC626738DB}" type="slidenum">
              <a:rPr kumimoji="0" lang="ru-RU" sz="1800" b="0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Elektra Medium Pro"/>
                <a:ea typeface="DejaVu Sans"/>
                <a:cs typeface="DejaVu San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ru-RU" sz="1800" b="0" i="0" u="none" strike="noStrike" kern="1200" cap="none" spc="-1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DejaVu Sans"/>
              <a:cs typeface="DejaVu Sans"/>
            </a:endParaRPr>
          </a:p>
        </p:txBody>
      </p:sp>
      <p:sp>
        <p:nvSpPr>
          <p:cNvPr id="108" name="CustomShape 3"/>
          <p:cNvSpPr/>
          <p:nvPr/>
        </p:nvSpPr>
        <p:spPr>
          <a:xfrm>
            <a:off x="6539400" y="1914480"/>
            <a:ext cx="490428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-1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DejaVu Sans"/>
              <a:cs typeface="DejaVu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-1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DejaVu Sans"/>
              <a:cs typeface="DejaVu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-1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DejaVu Sans"/>
              <a:cs typeface="DejaVu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-1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DejaVu Sans"/>
              <a:cs typeface="DejaVu Sans"/>
            </a:endParaRPr>
          </a:p>
        </p:txBody>
      </p:sp>
      <p:sp>
        <p:nvSpPr>
          <p:cNvPr id="109" name="CustomShape 4"/>
          <p:cNvSpPr/>
          <p:nvPr/>
        </p:nvSpPr>
        <p:spPr>
          <a:xfrm>
            <a:off x="577970" y="1115897"/>
            <a:ext cx="11057923" cy="25409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В ходе выполнения курсовой работы спроектирована и реализована информационная система «Авторемонтная мастерская», позволяющая клиенту осуществлять просмотр каталога с услугами, оформлять заявку на обслуживание в авторемонтную мастерскую, а также отслеживать свои заказы с помощью личного кабинета.</a:t>
            </a:r>
            <a:endParaRPr lang="ru-RU" sz="18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>
                <a:solidFill>
                  <a:prstClr val="black"/>
                </a:solidFill>
                <a:latin typeface="Calibri" panose="020F0502020204030204" pitchFamily="34" charset="0"/>
                <a:ea typeface="DejaVu Sans"/>
                <a:cs typeface="Calibri" panose="020F0502020204030204" pitchFamily="34" charset="0"/>
              </a:rPr>
              <a:t>Мастер-приёмщик и администратор также имеют свой собственный функционал, позволяющий эффективно работать с клиентами, заявками и заказ-нарядами.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DejaVu Sans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22082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Рисунок 2"/>
          <p:cNvPicPr/>
          <p:nvPr/>
        </p:nvPicPr>
        <p:blipFill>
          <a:blip r:embed="rId2"/>
          <a:stretch/>
        </p:blipFill>
        <p:spPr>
          <a:xfrm>
            <a:off x="0" y="1800"/>
            <a:ext cx="12191760" cy="6854040"/>
          </a:xfrm>
          <a:prstGeom prst="rect">
            <a:avLst/>
          </a:prstGeom>
          <a:ln>
            <a:noFill/>
          </a:ln>
        </p:spPr>
      </p:pic>
      <p:sp>
        <p:nvSpPr>
          <p:cNvPr id="130" name="CustomShape 1"/>
          <p:cNvSpPr/>
          <p:nvPr/>
        </p:nvSpPr>
        <p:spPr>
          <a:xfrm>
            <a:off x="6627600" y="2721708"/>
            <a:ext cx="3831480" cy="822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2400" b="1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БЛАГОДАРЮ </a:t>
            </a:r>
            <a:endParaRPr lang="ru-RU" sz="24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>
              <a:lnSpc>
                <a:spcPct val="100000"/>
              </a:lnSpc>
            </a:pPr>
            <a:r>
              <a:rPr lang="ru-RU" sz="2400" b="1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ЗА ВНИМАНИЕ</a:t>
            </a:r>
            <a:r>
              <a:rPr lang="en-US" sz="2400" b="1" strike="noStrike" spc="-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!</a:t>
            </a:r>
            <a:endParaRPr lang="ru-RU" sz="24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3961</TotalTime>
  <Words>924</Words>
  <Application>Microsoft Office PowerPoint</Application>
  <PresentationFormat>Широкоэкранный</PresentationFormat>
  <Paragraphs>131</Paragraphs>
  <Slides>22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30" baseType="lpstr">
      <vt:lpstr>Arial</vt:lpstr>
      <vt:lpstr>Calibri</vt:lpstr>
      <vt:lpstr>Calibri Light</vt:lpstr>
      <vt:lpstr>Elektra Medium Pro</vt:lpstr>
      <vt:lpstr>Symbol</vt:lpstr>
      <vt:lpstr>Times New Roman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Евгений Степанов</dc:creator>
  <dc:description/>
  <cp:lastModifiedBy>Михаил Кондратьев</cp:lastModifiedBy>
  <cp:revision>176</cp:revision>
  <dcterms:created xsi:type="dcterms:W3CDTF">2016-03-09T10:31:39Z</dcterms:created>
  <dcterms:modified xsi:type="dcterms:W3CDTF">2026-06-02T11:01:32Z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2</vt:i4>
  </property>
  <property fmtid="{D5CDD505-2E9C-101B-9397-08002B2CF9AE}" pid="8" name="PresentationFormat">
    <vt:lpwstr>Широкоэкранный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17</vt:i4>
  </property>
</Properties>
</file>